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4"/>
  </p:sldMasterIdLst>
  <p:notesMasterIdLst>
    <p:notesMasterId r:id="rId11"/>
  </p:notesMasterIdLst>
  <p:sldIdLst>
    <p:sldId id="25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0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2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r>
            <a:rPr lang="en-US"/>
            <a:t>AMTs combine the raw mechanical efficiency of a traditional manual gearbox with the ease of an automatic.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 phldrT="01"/>
      <dgm:spPr/>
      <dgm:t>
        <a:bodyPr/>
        <a:lstStyle/>
        <a:p>
          <a:endParaRPr lang="en-US" dirty="0"/>
        </a:p>
      </dgm:t>
    </dgm:pt>
    <dgm:pt modelId="{49225C73-1633-42F1-AB3B-7CB183E5F8B8}">
      <dgm:prSet/>
      <dgm:spPr/>
      <dgm:t>
        <a:bodyPr/>
        <a:lstStyle/>
        <a:p>
          <a:r>
            <a:rPr lang="en-US"/>
            <a:t>They offer superior fuel economy and direct power transfer compared to traditional fluid-driven torque converters, while being cheaper to manufacture and maintain.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 phldrT="02"/>
      <dgm:spPr/>
      <dgm:t>
        <a:bodyPr/>
        <a:lstStyle/>
        <a:p>
          <a:endParaRPr lang="en-US" dirty="0"/>
        </a:p>
      </dgm:t>
    </dgm:pt>
    <dgm:pt modelId="{1C383F32-22E8-4F62-A3E0-BDC3D5F48992}">
      <dgm:prSet/>
      <dgm:spPr/>
      <dgm:t>
        <a:bodyPr/>
        <a:lstStyle/>
        <a:p>
          <a:r>
            <a:rPr lang="en-US"/>
            <a:t>Because they use physical clutches and synchronizers instead of fluid couplings, they require a highly intelligent electronic agent to execute shifts smoothly without stalling the engine or jarring the passengers.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 phldrT="03"/>
      <dgm:spPr/>
      <dgm:t>
        <a:bodyPr/>
        <a:lstStyle/>
        <a:p>
          <a:endParaRPr lang="en-US" dirty="0"/>
        </a:p>
      </dgm:t>
    </dgm:pt>
    <dgm:pt modelId="{3B7A4822-397E-4070-BC9F-8F895F489C44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CDF9D4CB-A9F6-45F7-9518-292AD20C12E7}" type="pres">
      <dgm:prSet presAssocID="{40FC4FFE-8987-4A26-B7F4-8A516F18ADAE}" presName="compNode" presStyleCnt="0"/>
      <dgm:spPr/>
    </dgm:pt>
    <dgm:pt modelId="{7D8D2A5A-86DE-4D8B-8502-305D5DE1EA0E}" type="pres">
      <dgm:prSet presAssocID="{40FC4FFE-8987-4A26-B7F4-8A516F18ADAE}" presName="bgRect" presStyleLbl="bgShp" presStyleIdx="0" presStyleCnt="3"/>
      <dgm:spPr/>
    </dgm:pt>
    <dgm:pt modelId="{4C04528C-5B53-494F-A318-0C33216BA97A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25EDA58-621E-47E9-882B-2E7A6A2C85DD}" type="pres">
      <dgm:prSet presAssocID="{40FC4FFE-8987-4A26-B7F4-8A516F18ADAE}" presName="spaceRect" presStyleCnt="0"/>
      <dgm:spPr/>
    </dgm:pt>
    <dgm:pt modelId="{B4FAECF1-2792-4C31-909F-D34C795310D2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978C738A-28AF-44DF-A5AA-B309564DBC59}" type="pres">
      <dgm:prSet presAssocID="{5B62599A-5C9B-48E7-896E-EA782AC60C8B}" presName="sibTrans" presStyleCnt="0"/>
      <dgm:spPr/>
    </dgm:pt>
    <dgm:pt modelId="{9377B4ED-48F0-4307-9DF0-9355A146EB15}" type="pres">
      <dgm:prSet presAssocID="{49225C73-1633-42F1-AB3B-7CB183E5F8B8}" presName="compNode" presStyleCnt="0"/>
      <dgm:spPr/>
    </dgm:pt>
    <dgm:pt modelId="{3BF1963D-B605-405F-8E00-9DC0A6D377ED}" type="pres">
      <dgm:prSet presAssocID="{49225C73-1633-42F1-AB3B-7CB183E5F8B8}" presName="bgRect" presStyleLbl="bgShp" presStyleIdx="1" presStyleCnt="3"/>
      <dgm:spPr/>
    </dgm:pt>
    <dgm:pt modelId="{0495D879-095B-4CF7-9272-9A8550A5F8E6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345A008-5E15-4856-BF30-B575CD888896}" type="pres">
      <dgm:prSet presAssocID="{49225C73-1633-42F1-AB3B-7CB183E5F8B8}" presName="spaceRect" presStyleCnt="0"/>
      <dgm:spPr/>
    </dgm:pt>
    <dgm:pt modelId="{9854B397-C44D-4A89-8917-781B42FCAC32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1BB26133-53F6-4D23-BCD4-1CACD0E88FE8}" type="pres">
      <dgm:prSet presAssocID="{9646853A-8964-4519-A5B1-0B7D18B2983D}" presName="sibTrans" presStyleCnt="0"/>
      <dgm:spPr/>
    </dgm:pt>
    <dgm:pt modelId="{CA130884-D132-452A-AEB7-9FC7FAE830C2}" type="pres">
      <dgm:prSet presAssocID="{1C383F32-22E8-4F62-A3E0-BDC3D5F48992}" presName="compNode" presStyleCnt="0"/>
      <dgm:spPr/>
    </dgm:pt>
    <dgm:pt modelId="{8E88C7F1-5D83-4E58-B3FF-77A357A99913}" type="pres">
      <dgm:prSet presAssocID="{1C383F32-22E8-4F62-A3E0-BDC3D5F48992}" presName="bgRect" presStyleLbl="bgShp" presStyleIdx="2" presStyleCnt="3"/>
      <dgm:spPr/>
    </dgm:pt>
    <dgm:pt modelId="{31A78D0C-2DF1-4C31-A123-11EA241A54B7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FB0DE99-1BFC-4620-B689-02B7B77D6548}" type="pres">
      <dgm:prSet presAssocID="{1C383F32-22E8-4F62-A3E0-BDC3D5F48992}" presName="spaceRect" presStyleCnt="0"/>
      <dgm:spPr/>
    </dgm:pt>
    <dgm:pt modelId="{3F113B34-25A2-47C7-8953-8A34CDCB98FD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2220726B-7194-459C-9609-55F8293FCA93}" type="presOf" srcId="{49225C73-1633-42F1-AB3B-7CB183E5F8B8}" destId="{9854B397-C44D-4A89-8917-781B42FCAC32}" srcOrd="0" destOrd="0" presId="urn:microsoft.com/office/officeart/2018/2/layout/IconVerticalSolidList"/>
    <dgm:cxn modelId="{33966770-AC84-4D31-A961-1523613A62F9}" type="presOf" srcId="{01A66772-F185-4D58-B8BB-E9370D7A7A2B}" destId="{3B7A4822-397E-4070-BC9F-8F895F489C44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6BFEC099-1C87-4EA5-A140-74FF80F07C16}" type="presOf" srcId="{40FC4FFE-8987-4A26-B7F4-8A516F18ADAE}" destId="{B4FAECF1-2792-4C31-909F-D34C795310D2}" srcOrd="0" destOrd="0" presId="urn:microsoft.com/office/officeart/2018/2/layout/IconVerticalSolidList"/>
    <dgm:cxn modelId="{B19B71FC-818A-45ED-8A24-218E262C136E}" type="presOf" srcId="{1C383F32-22E8-4F62-A3E0-BDC3D5F48992}" destId="{3F113B34-25A2-47C7-8953-8A34CDCB98FD}" srcOrd="0" destOrd="0" presId="urn:microsoft.com/office/officeart/2018/2/layout/IconVerticalSolidList"/>
    <dgm:cxn modelId="{A5455707-975C-471B-BEF0-DC4622BCA47B}" type="presParOf" srcId="{3B7A4822-397E-4070-BC9F-8F895F489C44}" destId="{CDF9D4CB-A9F6-45F7-9518-292AD20C12E7}" srcOrd="0" destOrd="0" presId="urn:microsoft.com/office/officeart/2018/2/layout/IconVerticalSolidList"/>
    <dgm:cxn modelId="{6E82D299-29E1-4CF6-9251-31128F23EADC}" type="presParOf" srcId="{CDF9D4CB-A9F6-45F7-9518-292AD20C12E7}" destId="{7D8D2A5A-86DE-4D8B-8502-305D5DE1EA0E}" srcOrd="0" destOrd="0" presId="urn:microsoft.com/office/officeart/2018/2/layout/IconVerticalSolidList"/>
    <dgm:cxn modelId="{0A564BB5-CC75-44F3-B4B5-5A50C1FE8622}" type="presParOf" srcId="{CDF9D4CB-A9F6-45F7-9518-292AD20C12E7}" destId="{4C04528C-5B53-494F-A318-0C33216BA97A}" srcOrd="1" destOrd="0" presId="urn:microsoft.com/office/officeart/2018/2/layout/IconVerticalSolidList"/>
    <dgm:cxn modelId="{2F29552C-E172-4310-B91C-50AF696D5BB3}" type="presParOf" srcId="{CDF9D4CB-A9F6-45F7-9518-292AD20C12E7}" destId="{E25EDA58-621E-47E9-882B-2E7A6A2C85DD}" srcOrd="2" destOrd="0" presId="urn:microsoft.com/office/officeart/2018/2/layout/IconVerticalSolidList"/>
    <dgm:cxn modelId="{6CF5CFF0-E193-4C15-94EA-441C2D30A7A9}" type="presParOf" srcId="{CDF9D4CB-A9F6-45F7-9518-292AD20C12E7}" destId="{B4FAECF1-2792-4C31-909F-D34C795310D2}" srcOrd="3" destOrd="0" presId="urn:microsoft.com/office/officeart/2018/2/layout/IconVerticalSolidList"/>
    <dgm:cxn modelId="{D117F6A0-3488-4E76-AD8F-018B97BBFE06}" type="presParOf" srcId="{3B7A4822-397E-4070-BC9F-8F895F489C44}" destId="{978C738A-28AF-44DF-A5AA-B309564DBC59}" srcOrd="1" destOrd="0" presId="urn:microsoft.com/office/officeart/2018/2/layout/IconVerticalSolidList"/>
    <dgm:cxn modelId="{574B471B-5543-4FB6-827C-39BD9FF0321E}" type="presParOf" srcId="{3B7A4822-397E-4070-BC9F-8F895F489C44}" destId="{9377B4ED-48F0-4307-9DF0-9355A146EB15}" srcOrd="2" destOrd="0" presId="urn:microsoft.com/office/officeart/2018/2/layout/IconVerticalSolidList"/>
    <dgm:cxn modelId="{971B38A9-0E3B-4623-B390-2D3C8E82C843}" type="presParOf" srcId="{9377B4ED-48F0-4307-9DF0-9355A146EB15}" destId="{3BF1963D-B605-405F-8E00-9DC0A6D377ED}" srcOrd="0" destOrd="0" presId="urn:microsoft.com/office/officeart/2018/2/layout/IconVerticalSolidList"/>
    <dgm:cxn modelId="{13F93A0D-65E0-4A9C-A75D-4B333A72AF70}" type="presParOf" srcId="{9377B4ED-48F0-4307-9DF0-9355A146EB15}" destId="{0495D879-095B-4CF7-9272-9A8550A5F8E6}" srcOrd="1" destOrd="0" presId="urn:microsoft.com/office/officeart/2018/2/layout/IconVerticalSolidList"/>
    <dgm:cxn modelId="{FD4F36C4-F65B-48BB-A60C-30211A4DC70E}" type="presParOf" srcId="{9377B4ED-48F0-4307-9DF0-9355A146EB15}" destId="{3345A008-5E15-4856-BF30-B575CD888896}" srcOrd="2" destOrd="0" presId="urn:microsoft.com/office/officeart/2018/2/layout/IconVerticalSolidList"/>
    <dgm:cxn modelId="{8EB5EA33-89CB-4FE3-941D-0A3205D458AC}" type="presParOf" srcId="{9377B4ED-48F0-4307-9DF0-9355A146EB15}" destId="{9854B397-C44D-4A89-8917-781B42FCAC32}" srcOrd="3" destOrd="0" presId="urn:microsoft.com/office/officeart/2018/2/layout/IconVerticalSolidList"/>
    <dgm:cxn modelId="{CAEA5B63-547A-4699-8509-B52ABE937494}" type="presParOf" srcId="{3B7A4822-397E-4070-BC9F-8F895F489C44}" destId="{1BB26133-53F6-4D23-BCD4-1CACD0E88FE8}" srcOrd="3" destOrd="0" presId="urn:microsoft.com/office/officeart/2018/2/layout/IconVerticalSolidList"/>
    <dgm:cxn modelId="{531C5E58-94F2-4C35-B5E2-0B68169B92E5}" type="presParOf" srcId="{3B7A4822-397E-4070-BC9F-8F895F489C44}" destId="{CA130884-D132-452A-AEB7-9FC7FAE830C2}" srcOrd="4" destOrd="0" presId="urn:microsoft.com/office/officeart/2018/2/layout/IconVerticalSolidList"/>
    <dgm:cxn modelId="{FA581F57-49E2-4768-BBB5-B8190C0C29CD}" type="presParOf" srcId="{CA130884-D132-452A-AEB7-9FC7FAE830C2}" destId="{8E88C7F1-5D83-4E58-B3FF-77A357A99913}" srcOrd="0" destOrd="0" presId="urn:microsoft.com/office/officeart/2018/2/layout/IconVerticalSolidList"/>
    <dgm:cxn modelId="{CA0A5432-02F4-477D-92D4-57AC95546359}" type="presParOf" srcId="{CA130884-D132-452A-AEB7-9FC7FAE830C2}" destId="{31A78D0C-2DF1-4C31-A123-11EA241A54B7}" srcOrd="1" destOrd="0" presId="urn:microsoft.com/office/officeart/2018/2/layout/IconVerticalSolidList"/>
    <dgm:cxn modelId="{D8465908-C04C-4F77-AC1A-00D90DA92230}" type="presParOf" srcId="{CA130884-D132-452A-AEB7-9FC7FAE830C2}" destId="{6FB0DE99-1BFC-4620-B689-02B7B77D6548}" srcOrd="2" destOrd="0" presId="urn:microsoft.com/office/officeart/2018/2/layout/IconVerticalSolidList"/>
    <dgm:cxn modelId="{82241EBE-1570-4A5E-BB4E-1461F70A3824}" type="presParOf" srcId="{CA130884-D132-452A-AEB7-9FC7FAE830C2}" destId="{3F113B34-25A2-47C7-8953-8A34CDCB98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320267-1153-44FC-8823-F58BE3EAA1D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02F8F88-1D65-4CE6-82EC-885FD55F25A1}">
      <dgm:prSet/>
      <dgm:spPr/>
      <dgm:t>
        <a:bodyPr/>
        <a:lstStyle/>
        <a:p>
          <a:r>
            <a:rPr lang="en-US"/>
            <a:t>Mathematically replicate human driving intuition for discrete AMT actuators.</a:t>
          </a:r>
        </a:p>
      </dgm:t>
    </dgm:pt>
    <dgm:pt modelId="{40C4E54D-9CFB-4088-AF18-D57CD1AA8B7A}" type="parTrans" cxnId="{C73DE632-5CF7-4B21-AC37-83CEA61644C6}">
      <dgm:prSet/>
      <dgm:spPr/>
      <dgm:t>
        <a:bodyPr/>
        <a:lstStyle/>
        <a:p>
          <a:endParaRPr lang="en-US"/>
        </a:p>
      </dgm:t>
    </dgm:pt>
    <dgm:pt modelId="{F3834735-CD9D-46F8-AC0C-1D2A3428726D}" type="sibTrans" cxnId="{C73DE632-5CF7-4B21-AC37-83CEA61644C6}">
      <dgm:prSet/>
      <dgm:spPr/>
      <dgm:t>
        <a:bodyPr/>
        <a:lstStyle/>
        <a:p>
          <a:endParaRPr lang="en-US"/>
        </a:p>
      </dgm:t>
    </dgm:pt>
    <dgm:pt modelId="{1A9645C0-5B42-4434-86C3-A0FB6665ECF4}">
      <dgm:prSet/>
      <dgm:spPr/>
      <dgm:t>
        <a:bodyPr/>
        <a:lstStyle/>
        <a:p>
          <a:r>
            <a:rPr lang="en-US"/>
            <a:t>Balancing clutch slip, throttle input, and gear selection dynamically.</a:t>
          </a:r>
        </a:p>
      </dgm:t>
    </dgm:pt>
    <dgm:pt modelId="{1B7B9BDA-59ED-43F8-9D25-47794B7C667B}" type="parTrans" cxnId="{CCEEEB67-186F-4168-84D3-B136DE77FCCC}">
      <dgm:prSet/>
      <dgm:spPr/>
      <dgm:t>
        <a:bodyPr/>
        <a:lstStyle/>
        <a:p>
          <a:endParaRPr lang="en-US"/>
        </a:p>
      </dgm:t>
    </dgm:pt>
    <dgm:pt modelId="{A725FA47-4CAF-4153-BFE4-A1D02731F845}" type="sibTrans" cxnId="{CCEEEB67-186F-4168-84D3-B136DE77FCCC}">
      <dgm:prSet/>
      <dgm:spPr/>
      <dgm:t>
        <a:bodyPr/>
        <a:lstStyle/>
        <a:p>
          <a:endParaRPr lang="en-US"/>
        </a:p>
      </dgm:t>
    </dgm:pt>
    <dgm:pt modelId="{600747FC-8716-4673-82FB-C5F1BF08FF66}">
      <dgm:prSet/>
      <dgm:spPr/>
      <dgm:t>
        <a:bodyPr/>
        <a:lstStyle/>
        <a:p>
          <a:r>
            <a:rPr lang="en-US"/>
            <a:t>Compensating for exponential aerodynamic drag and variable gravitational slopes.</a:t>
          </a:r>
        </a:p>
      </dgm:t>
    </dgm:pt>
    <dgm:pt modelId="{6868A186-253A-4D74-9D71-34BB37D3BBCB}" type="parTrans" cxnId="{8FD583AC-DDBF-4111-9BDD-0D24CAC26E01}">
      <dgm:prSet/>
      <dgm:spPr/>
      <dgm:t>
        <a:bodyPr/>
        <a:lstStyle/>
        <a:p>
          <a:endParaRPr lang="en-US"/>
        </a:p>
      </dgm:t>
    </dgm:pt>
    <dgm:pt modelId="{F707A669-B2FB-409B-A1D6-CCF529D84619}" type="sibTrans" cxnId="{8FD583AC-DDBF-4111-9BDD-0D24CAC26E01}">
      <dgm:prSet/>
      <dgm:spPr/>
      <dgm:t>
        <a:bodyPr/>
        <a:lstStyle/>
        <a:p>
          <a:endParaRPr lang="en-US"/>
        </a:p>
      </dgm:t>
    </dgm:pt>
    <dgm:pt modelId="{3E7C353F-0F5E-402E-B5A0-2AED601F9F53}">
      <dgm:prSet/>
      <dgm:spPr/>
      <dgm:t>
        <a:bodyPr/>
        <a:lstStyle/>
        <a:p>
          <a:r>
            <a:rPr lang="en-US"/>
            <a:t>Preventing engine stalling, shift shock, and target velocity overshooting.</a:t>
          </a:r>
        </a:p>
      </dgm:t>
    </dgm:pt>
    <dgm:pt modelId="{D6669B6A-A343-4D0C-935E-A2C89DB93FFD}" type="parTrans" cxnId="{AB26D4FE-E7E2-4905-8768-9DF7A8209069}">
      <dgm:prSet/>
      <dgm:spPr/>
      <dgm:t>
        <a:bodyPr/>
        <a:lstStyle/>
        <a:p>
          <a:endParaRPr lang="en-US"/>
        </a:p>
      </dgm:t>
    </dgm:pt>
    <dgm:pt modelId="{08087755-2BBD-4158-A934-E165C336CEA0}" type="sibTrans" cxnId="{AB26D4FE-E7E2-4905-8768-9DF7A8209069}">
      <dgm:prSet/>
      <dgm:spPr/>
      <dgm:t>
        <a:bodyPr/>
        <a:lstStyle/>
        <a:p>
          <a:endParaRPr lang="en-US"/>
        </a:p>
      </dgm:t>
    </dgm:pt>
    <dgm:pt modelId="{E956EF4F-FB75-477F-A4A3-85AA35E40A15}" type="pres">
      <dgm:prSet presAssocID="{D3320267-1153-44FC-8823-F58BE3EAA1D0}" presName="linear" presStyleCnt="0">
        <dgm:presLayoutVars>
          <dgm:animLvl val="lvl"/>
          <dgm:resizeHandles val="exact"/>
        </dgm:presLayoutVars>
      </dgm:prSet>
      <dgm:spPr/>
    </dgm:pt>
    <dgm:pt modelId="{40F288AB-A1B2-4089-9018-527C8D953A0C}" type="pres">
      <dgm:prSet presAssocID="{502F8F88-1D65-4CE6-82EC-885FD55F25A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91C0E19-2DC7-4FA1-BD7D-7B50E6461440}" type="pres">
      <dgm:prSet presAssocID="{502F8F88-1D65-4CE6-82EC-885FD55F25A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0F6D60B-8DEA-411D-83DB-136644BB05BC}" type="presOf" srcId="{1A9645C0-5B42-4434-86C3-A0FB6665ECF4}" destId="{B91C0E19-2DC7-4FA1-BD7D-7B50E6461440}" srcOrd="0" destOrd="0" presId="urn:microsoft.com/office/officeart/2005/8/layout/vList2"/>
    <dgm:cxn modelId="{C73DE632-5CF7-4B21-AC37-83CEA61644C6}" srcId="{D3320267-1153-44FC-8823-F58BE3EAA1D0}" destId="{502F8F88-1D65-4CE6-82EC-885FD55F25A1}" srcOrd="0" destOrd="0" parTransId="{40C4E54D-9CFB-4088-AF18-D57CD1AA8B7A}" sibTransId="{F3834735-CD9D-46F8-AC0C-1D2A3428726D}"/>
    <dgm:cxn modelId="{CEB32E65-C5E8-4B75-85C4-E90014E18ECB}" type="presOf" srcId="{3E7C353F-0F5E-402E-B5A0-2AED601F9F53}" destId="{B91C0E19-2DC7-4FA1-BD7D-7B50E6461440}" srcOrd="0" destOrd="2" presId="urn:microsoft.com/office/officeart/2005/8/layout/vList2"/>
    <dgm:cxn modelId="{CCEEEB67-186F-4168-84D3-B136DE77FCCC}" srcId="{502F8F88-1D65-4CE6-82EC-885FD55F25A1}" destId="{1A9645C0-5B42-4434-86C3-A0FB6665ECF4}" srcOrd="0" destOrd="0" parTransId="{1B7B9BDA-59ED-43F8-9D25-47794B7C667B}" sibTransId="{A725FA47-4CAF-4153-BFE4-A1D02731F845}"/>
    <dgm:cxn modelId="{C4D4EE50-0CC5-403E-B0B4-99E0DA33DAF9}" type="presOf" srcId="{600747FC-8716-4673-82FB-C5F1BF08FF66}" destId="{B91C0E19-2DC7-4FA1-BD7D-7B50E6461440}" srcOrd="0" destOrd="1" presId="urn:microsoft.com/office/officeart/2005/8/layout/vList2"/>
    <dgm:cxn modelId="{9A50FA87-CB47-4DEC-9D4D-E0BCB70A6FBA}" type="presOf" srcId="{D3320267-1153-44FC-8823-F58BE3EAA1D0}" destId="{E956EF4F-FB75-477F-A4A3-85AA35E40A15}" srcOrd="0" destOrd="0" presId="urn:microsoft.com/office/officeart/2005/8/layout/vList2"/>
    <dgm:cxn modelId="{25EAD5A7-7AFB-4D24-B4E8-C1B503472E5A}" type="presOf" srcId="{502F8F88-1D65-4CE6-82EC-885FD55F25A1}" destId="{40F288AB-A1B2-4089-9018-527C8D953A0C}" srcOrd="0" destOrd="0" presId="urn:microsoft.com/office/officeart/2005/8/layout/vList2"/>
    <dgm:cxn modelId="{8FD583AC-DDBF-4111-9BDD-0D24CAC26E01}" srcId="{502F8F88-1D65-4CE6-82EC-885FD55F25A1}" destId="{600747FC-8716-4673-82FB-C5F1BF08FF66}" srcOrd="1" destOrd="0" parTransId="{6868A186-253A-4D74-9D71-34BB37D3BBCB}" sibTransId="{F707A669-B2FB-409B-A1D6-CCF529D84619}"/>
    <dgm:cxn modelId="{AB26D4FE-E7E2-4905-8768-9DF7A8209069}" srcId="{502F8F88-1D65-4CE6-82EC-885FD55F25A1}" destId="{3E7C353F-0F5E-402E-B5A0-2AED601F9F53}" srcOrd="2" destOrd="0" parTransId="{D6669B6A-A343-4D0C-935E-A2C89DB93FFD}" sibTransId="{08087755-2BBD-4158-A934-E165C336CEA0}"/>
    <dgm:cxn modelId="{76521771-0C34-4E5B-9A93-660F58F957A1}" type="presParOf" srcId="{E956EF4F-FB75-477F-A4A3-85AA35E40A15}" destId="{40F288AB-A1B2-4089-9018-527C8D953A0C}" srcOrd="0" destOrd="0" presId="urn:microsoft.com/office/officeart/2005/8/layout/vList2"/>
    <dgm:cxn modelId="{F2DCB33F-8312-48B7-914F-AFB0AD8C77BF}" type="presParOf" srcId="{E956EF4F-FB75-477F-A4A3-85AA35E40A15}" destId="{B91C0E19-2DC7-4FA1-BD7D-7B50E646144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8D2A5A-86DE-4D8B-8502-305D5DE1EA0E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04528C-5B53-494F-A318-0C33216BA97A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AECF1-2792-4C31-909F-D34C795310D2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AMTs combine the raw mechanical efficiency of a traditional manual gearbox with the ease of an automatic. </a:t>
          </a:r>
        </a:p>
      </dsp:txBody>
      <dsp:txXfrm>
        <a:off x="1816103" y="671"/>
        <a:ext cx="4447536" cy="1572384"/>
      </dsp:txXfrm>
    </dsp:sp>
    <dsp:sp modelId="{3BF1963D-B605-405F-8E00-9DC0A6D377ED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95D879-095B-4CF7-9272-9A8550A5F8E6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4B397-C44D-4A89-8917-781B42FCAC32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They offer superior fuel economy and direct power transfer compared to traditional fluid-driven torque converters, while being cheaper to manufacture and maintain.</a:t>
          </a:r>
        </a:p>
      </dsp:txBody>
      <dsp:txXfrm>
        <a:off x="1816103" y="1966151"/>
        <a:ext cx="4447536" cy="1572384"/>
      </dsp:txXfrm>
    </dsp:sp>
    <dsp:sp modelId="{8E88C7F1-5D83-4E58-B3FF-77A357A99913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78D0C-2DF1-4C31-A123-11EA241A54B7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13B34-25A2-47C7-8953-8A34CDCB98FD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Because they use physical clutches and synchronizers instead of fluid couplings, they require a highly intelligent electronic agent to execute shifts smoothly without stalling the engine or jarring the passengers.</a:t>
          </a:r>
        </a:p>
      </dsp:txBody>
      <dsp:txXfrm>
        <a:off x="1816103" y="3931632"/>
        <a:ext cx="4447536" cy="15723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288AB-A1B2-4089-9018-527C8D953A0C}">
      <dsp:nvSpPr>
        <dsp:cNvPr id="0" name=""/>
        <dsp:cNvSpPr/>
      </dsp:nvSpPr>
      <dsp:spPr>
        <a:xfrm>
          <a:off x="0" y="57264"/>
          <a:ext cx="564197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Mathematically replicate human driving intuition for discrete AMT actuators.</a:t>
          </a:r>
        </a:p>
      </dsp:txBody>
      <dsp:txXfrm>
        <a:off x="85900" y="143164"/>
        <a:ext cx="5470174" cy="1587880"/>
      </dsp:txXfrm>
    </dsp:sp>
    <dsp:sp modelId="{B91C0E19-2DC7-4FA1-BD7D-7B50E6461440}">
      <dsp:nvSpPr>
        <dsp:cNvPr id="0" name=""/>
        <dsp:cNvSpPr/>
      </dsp:nvSpPr>
      <dsp:spPr>
        <a:xfrm>
          <a:off x="0" y="1816945"/>
          <a:ext cx="5641974" cy="3047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133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Balancing clutch slip, throttle input, and gear selection dynamically.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Compensating for exponential aerodynamic drag and variable gravitational slopes.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Preventing engine stalling, shift shock, and target velocity overshooting.</a:t>
          </a:r>
        </a:p>
      </dsp:txBody>
      <dsp:txXfrm>
        <a:off x="0" y="1816945"/>
        <a:ext cx="5641974" cy="3047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32EC-FBBE-3B96-579E-6605C6299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B930F-061F-AB81-E30B-8182D38DF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1A1C9-8A73-6466-5701-66E1641C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E26E-BCB2-4FD5-8FD5-81A5EAE94C21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34F0C-C782-236C-4687-FC8948198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BF335-A085-0076-0FB8-8DC36068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05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15C1-9766-5DD4-C020-FB6E3B73A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52FBB-16FA-FE13-B811-04BAB7D08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88215-B504-2AFA-C032-8857D30D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63C47-B3B8-579B-0AFA-2896F07F8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81970-6A1D-E3DA-2AE8-5E4B37ACB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3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E2AE-BDF8-CFA6-948E-597B17B42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3067F-5825-7270-E218-DC9B29B6E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BB5F6-4A2E-6F43-0CC8-FCE43D59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0C582-76FF-4063-67FD-3AFB74FF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CD79-1C77-91EB-5DD1-C725A6A1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BC5A-221A-C6DA-6E83-E3505630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4478D-A25C-4EBB-04DF-352349A877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47888-58F8-4E78-6520-8410960A5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B867D-F4FB-3AFB-5355-6C7243AD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DB50A-24D8-511C-0B06-4D8606BD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72D2E-CDAA-0F05-2B3B-38BE3B8D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5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1722-C85A-1F59-C2F8-BC9C376E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B406F-3198-676C-B410-C5E91F4B0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8535F-66E2-6276-EC68-83A8A60F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5491D-DA00-7717-3C42-FF851FD89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88C75-9B78-6088-4275-C62EF26D9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09E99-6FC4-94FA-7866-4723D117F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81BF37-E01F-B761-1859-DE6212F49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238AA-F902-1850-DA7C-F5E5D03E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749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D2AA-7FBB-E392-ABD0-3265CBDC0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5FEBEB-56DE-0474-8982-8AFCD201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0B3C3-3A8F-36F4-FB7E-85013BAAE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23F51-A935-F557-99AC-4481AB08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3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FF7A1-25F5-39EC-59BB-454B9835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8B259-014B-3488-E8BF-ACCE1016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CE2B4-9FA8-E5AD-503F-A49FAD9A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1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0AFD-9C0E-5B84-945B-F64E2F12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2587D-D02E-9205-6EFD-AE032DA3B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ED397-F74B-F512-216C-3667A0529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C53CF-A732-68B6-2D7C-18CD5205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6A1A8-6D55-5E23-5086-6E9D2B1A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805C0-D5FF-F9EE-313F-1617D80F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475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C7D2-2955-1CF7-10A4-6D291135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66647-8251-0D8A-A44F-C03ED9374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E3CEF-59F7-3AA2-F9D3-2B973868C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B3A76-5C56-6968-EA73-C9FC9AFF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AC36B-6937-254D-C8CE-E714D1E3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5CA24-F9CD-483D-9F53-3BBE84BF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12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53BF-81F9-70DD-7C96-316D5A278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6E591-2B19-B091-6146-2E669923C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E2A11-C6CE-0E5E-3570-94D8C74B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D267D-D139-7912-3AD4-5E60DC221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642BF-E0B8-9C04-461F-0535F343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9C8F91-C820-81D1-8268-D8C2A9366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6FF48-861B-4C42-7779-CF3EBCAF9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E9E27-65E4-5886-8F87-61537486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DAF29-9458-A3B4-1DBF-4721432B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F949B-8EE4-9779-0E9C-E05A91B0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13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B3598-84C5-BF82-13D5-02E04E88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61488-16F8-A457-4FE5-5DBE44B7C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AD2FD-B95E-8C4A-4B74-7156A649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E424C-FCA3-4EDD-B274-8E055D649B7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03AE-DE1C-B15E-617C-DF3D7B289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14E35-745C-2674-02AC-5302FE91F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88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7" r="66665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700"/>
              <a:t>Autonomous Driving Agent for Automated Manual Transmissions (AMTs)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Hierarchical State Machine and PID Control for Non-Linear Vehicle Dynamics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4000"/>
              <a:t>The Need for Automated Manual Transmissions (AMTs)</a:t>
            </a:r>
          </a:p>
        </p:txBody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618987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0A38E-02C0-615B-7B60-DC8E4622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Engineering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84F887-F35D-CC50-37B9-E040C7EE6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991693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780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A7351-C057-327C-D9AC-D88B493EF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/>
              <a:t>Agent Architecture: Macro &amp; Micro Control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6FAA49-7084-C42A-E2E7-F20C2F4962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3297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Managing high-level driving behaviors (like launching or stopping)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while simultaneously requiring precise, continuous pedal adjustments.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dual-layer control architecture.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Finite State Machine (FSM):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Orchestrates the macro-states (Idle, Launching, Driving, Shifting) safely.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PID Controllers: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Manage the precise, micro-level application of the throttle and brake actuators.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ABBAE-3987-C9DD-1EE2-C41A7178BC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18" r="23745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9254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6D337-92CC-0455-B56B-D61AF30F1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Intelligent Gear Selection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B7DD7C-B7ED-D5E1-41A6-1A6456448A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3297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Rigid, pre-programmed shifting tables fail on steep hills,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causing erratic "gear hunting" and boundary oscillation.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Real-time physics evaluation and objective scoring.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agent calculates the exact physical force required to overcome gravity and drag.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Available gears are mathematically scored based on engine power limits.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hysteresis penalty is applied to non-active gears to eliminate rapid, unnecessary shifting.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E6955-611F-8C53-5410-4C73EE4DD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43" r="32949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932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42B45-A0C8-D071-288F-51C1B9ED8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en-US"/>
              <a:t>Speed Stabilization &amp; Safety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2C7CFBC7-B54D-E1FE-2C74-B83ED154DB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9" y="713313"/>
            <a:ext cx="5257801" cy="54313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Long accelerations cause the controller memory to "wind up"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and overshoot target speeds, while downhill descents cause simultaneous pedal battling.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Mathematical constraints and mutual exclusion.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Anti-Windup Clamping: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PID memory is mathematically capped to strictly prevent speed overshooting.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Descent Management: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Software locks prevent pressing the gas and brake at the same time. The agent relies on engine braking first, engaging physical brakes only if a safe coasting buffer is exceeded.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244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71af3243-3dd4-4a8d-8c0d-dd76da1f02a5"/>
    <ds:schemaRef ds:uri="http://schemas.microsoft.com/office/2006/documentManagement/types"/>
    <ds:schemaRef ds:uri="16c05727-aa75-4e4a-9b5f-8a80a116589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390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Autonomous Driving Agent for Automated Manual Transmissions (AMTs)</vt:lpstr>
      <vt:lpstr>The Need for Automated Manual Transmissions (AMTs)</vt:lpstr>
      <vt:lpstr>The Engineering Challenge</vt:lpstr>
      <vt:lpstr>Agent Architecture: Macro &amp; Micro Control</vt:lpstr>
      <vt:lpstr>Intelligent Gear Selection</vt:lpstr>
      <vt:lpstr>Speed Stabilization &amp; Safety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Giorgos Markantonakis</dc:creator>
  <cp:lastModifiedBy>Giorgos Markantonakis</cp:lastModifiedBy>
  <cp:revision>1</cp:revision>
  <dcterms:created xsi:type="dcterms:W3CDTF">2026-02-28T11:36:27Z</dcterms:created>
  <dcterms:modified xsi:type="dcterms:W3CDTF">2026-02-28T11:58:19Z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